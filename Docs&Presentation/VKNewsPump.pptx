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34627-2608-4F33-BC55-C7A4B9124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AEFB6A-59F2-4832-AFF7-C77E91738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D00819-C9FF-44F4-9597-FBC9914A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50E04-E06D-467F-8234-A92D2DA7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E9FAC4-29CB-496D-8FB1-6F277D35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5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F3E8D-C51A-4C62-95AF-478B8501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6F5FB8-016E-4D75-9D77-7D42FFC4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1B395A-63DD-4182-AA55-E3BF66EA8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43AD2-E5D6-47A4-98DE-23D454250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E4B3C9-03F0-4A80-912A-F0A1FFB8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5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F97C9-4852-4DE1-B49B-9C0BC8BB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9C98F2-8489-4D6D-AABD-97875A7CA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D0E272-5EEE-4A8F-9A74-539E3793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18259B-F1FD-4BF3-B4D8-58D39D38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CF50FD-6DFA-4B70-8521-C4BF1681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65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0F00F-7B9A-4D2E-9E77-5027EACB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CE7276-6449-451F-BDA5-078C26701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2E5CB5-0546-4EE9-BFCD-018DCFC9B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E634913-CE7E-466F-9EE8-806E971E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1B85C0-131E-43EC-A456-6A913BE3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92197F-8CBD-4F09-B6DA-7B54AB84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81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EDE56-79BF-48B1-9151-A9032E87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B90F78-5B4A-4A61-84D1-EAF3FAC11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FA54E4-0056-486A-8FE8-4B4904A80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5D4FE8-2057-485F-A285-CE3992F3FE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6530F83-6505-4EE0-8BC0-0784A5DC8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E18B14-EE58-4425-B571-F98CC799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A6B795-DA54-48C4-B5BA-4E4A6220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7BE56C-00DD-4214-BF1E-68A30ACE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60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3672D-9216-466E-9E1F-EBAD91165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86B0007-BFF2-4525-B91E-C286D9EC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621A3D-4548-450E-ADB8-0694CB925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B478EE-2329-4C59-862F-40014C49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70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2CA1928-0927-46F7-B56F-C38FC060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210DFCD-6945-434F-BB11-C239BD2F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69FC5B-5974-4E46-AD54-75EF9496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56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69B48-C7CF-4729-AE99-C34F231F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88240-A66C-4AD6-808D-CBCED1D7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78C4C7-DBFF-4FA6-BE63-27C0CAB27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52B147-D452-474A-A88B-ADC116BA8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C384F6-ED9B-467C-A267-992FDE4E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E03F3B-7608-4B8D-83CB-8A72BEFC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66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DC923-3FD3-4339-8260-0F021185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B7737C-424B-45C0-B32E-A989D539E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835AF2-4E54-4618-AC2E-18A79F94C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1F5A39-B2DE-4014-9852-8FFB5029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D55E2D-9061-47B8-A127-D0F5AD384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18B0A7-E2B7-4D0A-B62C-69AC154D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061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65BCBB-15A7-4DDD-9513-D5959E09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85E5F2-36E8-44DF-9D6B-DD4FFD9DE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36F7AA-FAF7-4B39-BD5C-1072D2E2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9FD1C0-56E5-4D0B-BC3B-60F9D166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567DCD-F3EF-4DC1-B7D6-3A172BC67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64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7EC4895-1B90-47C8-B6E4-AD9833FDF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FB3C02-F8F8-4783-AF2A-B9A40C068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6DF8D5-B282-4CF2-9B25-01D00CB1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CB61A-19BE-4EC9-8815-9996ED01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6917A-EBDD-4D2A-890C-4D5C4F29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74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DE28FC-4058-4F8F-A0EA-0CCA2DA69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0D0D45-A6A1-455B-B661-500C69136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FCD65A-6D90-44BD-B57C-F4647DBA8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5E7DA-E227-44FE-BDD9-8614E7D9A271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7536D8-9465-4860-82D3-C6E102D77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FA6BB1-20B6-4DFE-8F5A-423444583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7CAB3-FE11-4193-BAEB-8D473E37A9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44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7D112-86AD-493A-8C7A-303C1E3A3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CAAEEB-48AD-497C-B3F2-DA358E6FA2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Умный </a:t>
            </a:r>
            <a:r>
              <a:rPr lang="ru-RU" b="1" dirty="0" err="1"/>
              <a:t>автопостинг</a:t>
            </a:r>
            <a:r>
              <a:rPr lang="ru-RU" b="1" dirty="0"/>
              <a:t> в соцсетях для твоего бизнеса.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139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4E582-0D85-47B7-B4B0-D1EF694D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r>
              <a:rPr lang="en-US" b="1" dirty="0"/>
              <a:t> </a:t>
            </a:r>
            <a:br>
              <a:rPr lang="en-US" b="1" dirty="0"/>
            </a:br>
            <a:r>
              <a:rPr lang="ru-RU" b="1" dirty="0"/>
              <a:t>Какую проблему решает </a:t>
            </a:r>
            <a:r>
              <a:rPr lang="en-US" b="1" dirty="0" err="1"/>
              <a:t>VKNewsPump</a:t>
            </a:r>
            <a:r>
              <a:rPr lang="en-US" b="1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176C72-2CC3-482A-9D12-41DDF3FC7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482"/>
          </a:xfrm>
        </p:spPr>
        <p:txBody>
          <a:bodyPr>
            <a:normAutofit fontScale="92500" lnSpcReduction="20000"/>
          </a:bodyPr>
          <a:lstStyle/>
          <a:p>
            <a:endParaRPr lang="ru-RU" dirty="0"/>
          </a:p>
          <a:p>
            <a:r>
              <a:rPr lang="ru-RU" dirty="0"/>
              <a:t>SMM-менеджеры и владельцы тематических </a:t>
            </a:r>
            <a:r>
              <a:rPr lang="ru-RU" dirty="0" err="1"/>
              <a:t>пабликов</a:t>
            </a:r>
            <a:r>
              <a:rPr lang="ru-RU" dirty="0"/>
              <a:t> тратят до 2–3 часов в день на ручной поиск, перевод и адаптацию новостей для публикации. Это отнимает ресурс, снижает скорость выхода контента и ведёт к выгоранию.</a:t>
            </a:r>
            <a:endParaRPr lang="en-US" dirty="0"/>
          </a:p>
          <a:p>
            <a:r>
              <a:rPr lang="ru-RU" b="1" dirty="0"/>
              <a:t>Кто сталкивается:</a:t>
            </a:r>
            <a:endParaRPr lang="ru-RU" dirty="0"/>
          </a:p>
          <a:p>
            <a:r>
              <a:rPr lang="ru-RU" dirty="0"/>
              <a:t>SMM-специалисты (фрилансеры, агентства)</a:t>
            </a:r>
          </a:p>
          <a:p>
            <a:r>
              <a:rPr lang="ru-RU" dirty="0"/>
              <a:t>Администраторы тематических VK-</a:t>
            </a:r>
            <a:r>
              <a:rPr lang="ru-RU" dirty="0" err="1"/>
              <a:t>пабликов</a:t>
            </a:r>
            <a:r>
              <a:rPr lang="en-US" dirty="0"/>
              <a:t>.</a:t>
            </a:r>
          </a:p>
          <a:p>
            <a:r>
              <a:rPr lang="ru-RU" dirty="0"/>
              <a:t>Маркетинговые отделы компаний, ведущие контент-маркетинг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964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9F28D15-3310-42DF-A642-1B4698E5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263"/>
          </a:xfrm>
        </p:spPr>
        <p:txBody>
          <a:bodyPr/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CB2A65-9B40-4A99-B9B2-6DFD65B7E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894"/>
            <a:ext cx="10515600" cy="4626069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Как справляются сейчас:</a:t>
            </a:r>
            <a:endParaRPr lang="ru-RU" dirty="0"/>
          </a:p>
          <a:p>
            <a:r>
              <a:rPr lang="ru-RU" dirty="0"/>
              <a:t>Ручной мониторинг RSS и </a:t>
            </a:r>
            <a:r>
              <a:rPr lang="ru-RU" dirty="0" err="1"/>
              <a:t>Telegram</a:t>
            </a:r>
            <a:r>
              <a:rPr lang="ru-RU" dirty="0"/>
              <a:t>-каналов</a:t>
            </a:r>
          </a:p>
          <a:p>
            <a:r>
              <a:rPr lang="ru-RU" dirty="0"/>
              <a:t>Копирование текстов, грубый машинный перевод (</a:t>
            </a:r>
            <a:r>
              <a:rPr lang="ru-RU" dirty="0" err="1"/>
              <a:t>Google</a:t>
            </a:r>
            <a:r>
              <a:rPr lang="ru-RU" dirty="0"/>
              <a:t> </a:t>
            </a:r>
            <a:r>
              <a:rPr lang="ru-RU" dirty="0" err="1"/>
              <a:t>Translate</a:t>
            </a:r>
            <a:r>
              <a:rPr lang="ru-RU" dirty="0"/>
              <a:t>)</a:t>
            </a:r>
          </a:p>
          <a:p>
            <a:r>
              <a:rPr lang="ru-RU" dirty="0"/>
              <a:t>Создание постов вручную (графика, текст, хештеги)</a:t>
            </a:r>
          </a:p>
          <a:p>
            <a:r>
              <a:rPr lang="ru-RU" dirty="0"/>
              <a:t>Использование базовых планировщиков (без интеллектуальной обработки)</a:t>
            </a:r>
            <a:endParaRPr lang="en-US" dirty="0"/>
          </a:p>
          <a:p>
            <a:r>
              <a:rPr lang="ru-RU" b="1" dirty="0"/>
              <a:t>Масштаб проблемы:</a:t>
            </a:r>
            <a:endParaRPr lang="ru-RU" dirty="0"/>
          </a:p>
          <a:p>
            <a:r>
              <a:rPr lang="ru-RU" dirty="0"/>
              <a:t>В России более 	150 000 активных VK-</a:t>
            </a:r>
            <a:r>
              <a:rPr lang="ru-RU" dirty="0" err="1"/>
              <a:t>пабликов</a:t>
            </a:r>
            <a:r>
              <a:rPr lang="ru-RU" dirty="0"/>
              <a:t> с количеством подписчиков от 3 тысяч до 1 миллиона. В категориях «Наука и технологии», «IT и интернет», «Бизнес» более 50 000 активных </a:t>
            </a:r>
            <a:r>
              <a:rPr lang="ru-RU" dirty="0" err="1"/>
              <a:t>пабликов</a:t>
            </a:r>
            <a:r>
              <a:rPr lang="en-US" dirty="0"/>
              <a:t>. 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922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7F5ED-5C77-4535-9833-C81CDF9A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en-US" b="1" dirty="0"/>
            </a:br>
            <a:r>
              <a:rPr lang="ru-RU" b="1" dirty="0"/>
              <a:t>Затраты компаний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5C1CAB-0274-4634-8642-BBACFA690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2986275"/>
          </a:xfrm>
        </p:spPr>
        <p:txBody>
          <a:bodyPr/>
          <a:lstStyle/>
          <a:p>
            <a:r>
              <a:rPr lang="ru-RU" dirty="0"/>
              <a:t>Средний SMM-менеджер ведёт 3–5 </a:t>
            </a:r>
            <a:r>
              <a:rPr lang="ru-RU" dirty="0" err="1"/>
              <a:t>пабликов</a:t>
            </a:r>
            <a:r>
              <a:rPr lang="ru-RU" dirty="0"/>
              <a:t>, затрачивая на новостной контент ~40 часов в неделю</a:t>
            </a:r>
            <a:r>
              <a:rPr lang="en-US" dirty="0"/>
              <a:t> (2-3 </a:t>
            </a:r>
            <a:r>
              <a:rPr lang="ru-RU" dirty="0"/>
              <a:t>часа на паблик ежедневно</a:t>
            </a:r>
            <a:r>
              <a:rPr lang="en-US" dirty="0"/>
              <a:t>). </a:t>
            </a:r>
          </a:p>
          <a:p>
            <a:r>
              <a:rPr lang="ru-RU" dirty="0"/>
              <a:t>Ставка 400 – 600 р</a:t>
            </a:r>
            <a:r>
              <a:rPr lang="en-US" dirty="0"/>
              <a:t>/</a:t>
            </a:r>
            <a:r>
              <a:rPr lang="ru-RU" dirty="0"/>
              <a:t>час = 60 – 100 т</a:t>
            </a:r>
            <a:r>
              <a:rPr lang="en-US" dirty="0"/>
              <a:t>.</a:t>
            </a:r>
            <a:r>
              <a:rPr lang="ru-RU" dirty="0"/>
              <a:t>р. (*</a:t>
            </a:r>
            <a:r>
              <a:rPr lang="en-US" dirty="0"/>
              <a:t>https://hh.ru/article/14611</a:t>
            </a:r>
            <a:r>
              <a:rPr lang="ru-RU" dirty="0"/>
              <a:t>)</a:t>
            </a:r>
          </a:p>
          <a:p>
            <a:r>
              <a:rPr lang="ru-RU" dirty="0"/>
              <a:t>Фриланс (1400 -1800</a:t>
            </a:r>
            <a:r>
              <a:rPr lang="en-US" dirty="0"/>
              <a:t>/</a:t>
            </a:r>
            <a:r>
              <a:rPr lang="ru-RU" dirty="0"/>
              <a:t>час не полная занятость)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876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6497A-7555-4C7D-B0CC-2AC0A1E2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ru-RU" b="1" dirty="0"/>
            </a:br>
            <a:r>
              <a:rPr lang="ru-RU" b="1" dirty="0"/>
              <a:t>Схема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528CED9-1408-42D1-92FE-FE0300B0B0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9" y="2671483"/>
            <a:ext cx="11761693" cy="1550894"/>
          </a:xfrm>
        </p:spPr>
      </p:pic>
    </p:spTree>
    <p:extLst>
      <p:ext uri="{BB962C8B-B14F-4D97-AF65-F5344CB8AC3E}">
        <p14:creationId xmlns:p14="http://schemas.microsoft.com/office/powerpoint/2010/main" val="380796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75B7-94FD-462F-82DF-A5FDB787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ru-RU" b="1" dirty="0"/>
            </a:br>
            <a:r>
              <a:rPr lang="ru-RU" b="1" dirty="0"/>
              <a:t>Схема (</a:t>
            </a:r>
            <a:r>
              <a:rPr lang="en-US" b="1" dirty="0"/>
              <a:t>human-in-loop</a:t>
            </a:r>
            <a:r>
              <a:rPr lang="ru-RU" b="1" dirty="0"/>
              <a:t>)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E92632B-D120-4E48-B97F-9E3D32B0A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06" y="1586753"/>
            <a:ext cx="11689976" cy="3567954"/>
          </a:xfrm>
        </p:spPr>
      </p:pic>
    </p:spTree>
    <p:extLst>
      <p:ext uri="{BB962C8B-B14F-4D97-AF65-F5344CB8AC3E}">
        <p14:creationId xmlns:p14="http://schemas.microsoft.com/office/powerpoint/2010/main" val="325362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ECBA7-35ED-4498-A721-5316B70AD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en-US" b="1" dirty="0"/>
            </a:br>
            <a:r>
              <a:rPr lang="ru-RU" b="1" dirty="0"/>
              <a:t>Экономика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54293B7-D72A-4433-A54E-195998D063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592060"/>
              </p:ext>
            </p:extLst>
          </p:nvPr>
        </p:nvGraphicFramePr>
        <p:xfrm>
          <a:off x="838200" y="1783976"/>
          <a:ext cx="10515600" cy="5022078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4669053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11369497"/>
                    </a:ext>
                  </a:extLst>
                </a:gridCol>
              </a:tblGrid>
              <a:tr h="510165">
                <a:tc>
                  <a:txBody>
                    <a:bodyPr/>
                    <a:lstStyle/>
                    <a:p>
                      <a:r>
                        <a:rPr lang="ru-RU"/>
                        <a:t>Статья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(ориентир)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384672"/>
                  </a:ext>
                </a:extLst>
              </a:tr>
              <a:tr h="510165">
                <a:tc>
                  <a:txBody>
                    <a:bodyPr/>
                    <a:lstStyle/>
                    <a:p>
                      <a:r>
                        <a:rPr lang="ru-RU" b="1" dirty="0"/>
                        <a:t>Разработка / настройка (разово)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150 000 – 300 000 ₽ (MVP с настройкой под нишу)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027813"/>
                  </a:ext>
                </a:extLst>
              </a:tr>
              <a:tr h="3053330">
                <a:tc>
                  <a:txBody>
                    <a:bodyPr/>
                    <a:lstStyle/>
                    <a:p>
                      <a:r>
                        <a:rPr lang="ru-RU" b="1" dirty="0"/>
                        <a:t>Инфраструктура и API (в месяц)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Пост 500 символов</a:t>
                      </a:r>
                      <a:r>
                        <a:rPr lang="en-US" dirty="0"/>
                        <a:t>: </a:t>
                      </a:r>
                      <a:r>
                        <a:rPr lang="ru-RU" dirty="0"/>
                        <a:t>200-250 токенов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en-US" dirty="0"/>
                        <a:t>C</a:t>
                      </a:r>
                      <a:r>
                        <a:rPr lang="ru-RU" dirty="0" err="1"/>
                        <a:t>татья</a:t>
                      </a:r>
                      <a:r>
                        <a:rPr lang="ru-RU" dirty="0"/>
                        <a:t> 1000 символов </a:t>
                      </a:r>
                      <a:r>
                        <a:rPr lang="ru-RU" b="0" dirty="0"/>
                        <a:t>1300–1800 токенов</a:t>
                      </a:r>
                      <a:r>
                        <a:rPr lang="en-US" b="0" dirty="0"/>
                        <a:t>.</a:t>
                      </a:r>
                      <a:endParaRPr lang="ru-RU" b="0" dirty="0"/>
                    </a:p>
                    <a:p>
                      <a:r>
                        <a:rPr lang="ru-RU" b="0" dirty="0"/>
                        <a:t>Перевод 1500–2000 токенов</a:t>
                      </a:r>
                      <a:r>
                        <a:rPr lang="en-US" b="0" dirty="0"/>
                        <a:t>.</a:t>
                      </a:r>
                      <a:endParaRPr lang="ru-RU" b="0" dirty="0"/>
                    </a:p>
                    <a:p>
                      <a:r>
                        <a:rPr lang="ru-RU" b="0" dirty="0" err="1"/>
                        <a:t>Промт</a:t>
                      </a:r>
                      <a:r>
                        <a:rPr lang="en-US" b="0" dirty="0"/>
                        <a:t>/</a:t>
                      </a:r>
                      <a:r>
                        <a:rPr lang="ru-RU" b="0" dirty="0"/>
                        <a:t>контекст  300 токенов</a:t>
                      </a:r>
                      <a:r>
                        <a:rPr lang="en-US" b="0" dirty="0"/>
                        <a:t>.</a:t>
                      </a:r>
                      <a:endParaRPr lang="ru-RU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Пост 500 символов</a:t>
                      </a:r>
                      <a:r>
                        <a:rPr lang="en-US" dirty="0"/>
                        <a:t>: </a:t>
                      </a:r>
                      <a:r>
                        <a:rPr lang="ru-RU" dirty="0"/>
                        <a:t>200-250 токенов</a:t>
                      </a:r>
                      <a:r>
                        <a:rPr lang="en-US" dirty="0"/>
                        <a:t>.</a:t>
                      </a:r>
                    </a:p>
                    <a:p>
                      <a:r>
                        <a:rPr lang="ru-RU" b="1" dirty="0"/>
                        <a:t>Итого 1 пост</a:t>
                      </a:r>
                      <a:r>
                        <a:rPr lang="en-US" b="1" dirty="0"/>
                        <a:t>:  ~ 4000 </a:t>
                      </a:r>
                      <a:r>
                        <a:rPr lang="ru-RU" b="1" dirty="0"/>
                        <a:t>токенов</a:t>
                      </a:r>
                      <a:endParaRPr lang="en-US" b="1" dirty="0"/>
                    </a:p>
                    <a:p>
                      <a:r>
                        <a:rPr lang="ru-RU" b="1" dirty="0"/>
                        <a:t>3 </a:t>
                      </a:r>
                      <a:r>
                        <a:rPr lang="ru-RU" b="1" dirty="0" err="1"/>
                        <a:t>паблика</a:t>
                      </a:r>
                      <a:r>
                        <a:rPr lang="ru-RU" b="1" dirty="0"/>
                        <a:t> * 20 дней = 240 000 токенов</a:t>
                      </a:r>
                    </a:p>
                    <a:p>
                      <a:r>
                        <a:rPr lang="en-US" dirty="0" err="1"/>
                        <a:t>OpenAI</a:t>
                      </a:r>
                      <a:r>
                        <a:rPr lang="en-US" dirty="0"/>
                        <a:t> GPT-3.5-turbo (~$0.002/1K </a:t>
                      </a:r>
                      <a:r>
                        <a:rPr lang="ru-RU" dirty="0"/>
                        <a:t>токенов) </a:t>
                      </a:r>
                      <a:r>
                        <a:rPr lang="ru-RU" dirty="0">
                          <a:solidFill>
                            <a:srgbClr val="00B050"/>
                          </a:solidFill>
                        </a:rPr>
                        <a:t>= 0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,48 USD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n-US" dirty="0" err="1"/>
                        <a:t>YandexGPT</a:t>
                      </a:r>
                      <a:r>
                        <a:rPr lang="en-US" dirty="0"/>
                        <a:t> Pro 5.1</a:t>
                      </a:r>
                      <a:r>
                        <a:rPr lang="ru-RU" dirty="0"/>
                        <a:t> (</a:t>
                      </a:r>
                      <a:r>
                        <a:rPr lang="en-US" dirty="0"/>
                        <a:t>~1,10p/1K </a:t>
                      </a:r>
                      <a:r>
                        <a:rPr lang="ru-RU" dirty="0"/>
                        <a:t>токенов) = </a:t>
                      </a:r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240 </a:t>
                      </a:r>
                      <a:r>
                        <a:rPr lang="ru-RU" dirty="0">
                          <a:solidFill>
                            <a:srgbClr val="00B050"/>
                          </a:solidFill>
                        </a:rPr>
                        <a:t>₽</a:t>
                      </a:r>
                    </a:p>
                    <a:p>
                      <a:r>
                        <a:rPr lang="ru-RU" dirty="0"/>
                        <a:t>3 000 – 5 000 ₽ (хостинг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8418729"/>
                  </a:ext>
                </a:extLst>
              </a:tr>
              <a:tr h="892788">
                <a:tc>
                  <a:txBody>
                    <a:bodyPr/>
                    <a:lstStyle/>
                    <a:p>
                      <a:r>
                        <a:rPr lang="ru-RU" b="1"/>
                        <a:t>Поддержка (в месяц)</a:t>
                      </a:r>
                      <a:endParaRPr lang="ru-RU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10 000 – 20 000 ₽ (администрирование, обновление парсеров, доработки)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60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09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DAB2C-9083-4E73-A974-A4683A0B3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8541"/>
          </a:xfrm>
        </p:spPr>
        <p:txBody>
          <a:bodyPr>
            <a:noAutofit/>
          </a:bodyPr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ru-RU" b="1" dirty="0"/>
            </a:br>
            <a:r>
              <a:rPr lang="ru-RU" sz="3200" b="1" dirty="0"/>
              <a:t>Эффект в деньгах </a:t>
            </a:r>
            <a:r>
              <a:rPr lang="ru-RU" altLang="ru-RU" sz="3200" b="1" dirty="0"/>
              <a:t>(для одного клиента / агентства)</a:t>
            </a:r>
            <a:br>
              <a:rPr lang="ru-RU" altLang="ru-RU" sz="3200" b="1" dirty="0"/>
            </a:br>
            <a:endParaRPr lang="ru-RU" sz="3200" b="1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B54CB6D-4FA3-4EE5-88EB-21DCDE41E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415732"/>
              </p:ext>
            </p:extLst>
          </p:nvPr>
        </p:nvGraphicFramePr>
        <p:xfrm>
          <a:off x="842682" y="1393667"/>
          <a:ext cx="10511118" cy="5179968"/>
        </p:xfrm>
        <a:graphic>
          <a:graphicData uri="http://schemas.openxmlformats.org/drawingml/2006/table">
            <a:tbl>
              <a:tblPr/>
              <a:tblGrid>
                <a:gridCol w="3612777">
                  <a:extLst>
                    <a:ext uri="{9D8B030D-6E8A-4147-A177-3AD203B41FA5}">
                      <a16:colId xmlns:a16="http://schemas.microsoft.com/office/drawing/2014/main" val="2414253542"/>
                    </a:ext>
                  </a:extLst>
                </a:gridCol>
                <a:gridCol w="5145741">
                  <a:extLst>
                    <a:ext uri="{9D8B030D-6E8A-4147-A177-3AD203B41FA5}">
                      <a16:colId xmlns:a16="http://schemas.microsoft.com/office/drawing/2014/main" val="8773127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73852137"/>
                    </a:ext>
                  </a:extLst>
                </a:gridCol>
              </a:tblGrid>
              <a:tr h="511674">
                <a:tc>
                  <a:txBody>
                    <a:bodyPr/>
                    <a:lstStyle/>
                    <a:p>
                      <a:r>
                        <a:rPr lang="ru-RU"/>
                        <a:t>Источник эффекта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 считаем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в месяц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4272764"/>
                  </a:ext>
                </a:extLst>
              </a:tr>
              <a:tr h="511674">
                <a:tc>
                  <a:txBody>
                    <a:bodyPr/>
                    <a:lstStyle/>
                    <a:p>
                      <a:r>
                        <a:rPr lang="ru-RU" b="1"/>
                        <a:t>Экономия времени </a:t>
                      </a:r>
                      <a:r>
                        <a:rPr lang="en-US" b="1"/>
                        <a:t>SMM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 часов × 4 недели × 600 ₽/час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100 000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007428"/>
                  </a:ext>
                </a:extLst>
              </a:tr>
              <a:tr h="895430">
                <a:tc>
                  <a:txBody>
                    <a:bodyPr/>
                    <a:lstStyle/>
                    <a:p>
                      <a:r>
                        <a:rPr lang="ru-RU" b="1" dirty="0"/>
                        <a:t>Сокращение ошибок</a:t>
                      </a:r>
                      <a:r>
                        <a:rPr lang="ru-RU" dirty="0"/>
                        <a:t> (неудачные посты, опечатки, дубли)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 ошибок/</a:t>
                      </a:r>
                      <a:r>
                        <a:rPr lang="ru-RU" dirty="0" err="1"/>
                        <a:t>мес</a:t>
                      </a:r>
                      <a:r>
                        <a:rPr lang="ru-RU" dirty="0"/>
                        <a:t> × 1 000 ₽</a:t>
                      </a:r>
                      <a:r>
                        <a:rPr lang="en-US" dirty="0"/>
                        <a:t> (</a:t>
                      </a:r>
                      <a:r>
                        <a:rPr lang="ru-RU" dirty="0"/>
                        <a:t>исправление по ставке + потеря лояльности + цена </a:t>
                      </a:r>
                      <a:r>
                        <a:rPr lang="ru-RU" dirty="0" err="1"/>
                        <a:t>лида</a:t>
                      </a:r>
                      <a:r>
                        <a:rPr lang="ru-RU" dirty="0"/>
                        <a:t> подписчика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5 000 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203073"/>
                  </a:ext>
                </a:extLst>
              </a:tr>
              <a:tr h="1961000">
                <a:tc>
                  <a:txBody>
                    <a:bodyPr/>
                    <a:lstStyle/>
                    <a:p>
                      <a:r>
                        <a:rPr lang="ru-RU" b="1" dirty="0"/>
                        <a:t>Рост вовлечённости / подписчиков</a:t>
                      </a:r>
                      <a:r>
                        <a:rPr lang="ru-RU" dirty="0"/>
                        <a:t> (более частый и качественный постинг)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+10% охвата → +10 000 ₽ рекламного эквивалента</a:t>
                      </a:r>
                      <a:endParaRPr lang="en-US" dirty="0"/>
                    </a:p>
                    <a:p>
                      <a:r>
                        <a:rPr lang="ru-RU" dirty="0"/>
                        <a:t>средняя цена за 1000 показов (CPM) ~150–350 ₽ </a:t>
                      </a:r>
                    </a:p>
                    <a:p>
                      <a:r>
                        <a:rPr lang="ru-RU" dirty="0"/>
                        <a:t>Если рост охвата составляет, условно, 30 000 показов в месяц, то рекламный эквивалент = 30 000 / 1000 × 330 ₽ = </a:t>
                      </a:r>
                      <a:r>
                        <a:rPr lang="ru-RU" b="1" dirty="0"/>
                        <a:t>10 000 ₽</a:t>
                      </a:r>
                      <a:r>
                        <a:rPr lang="ru-RU" dirty="0"/>
                        <a:t>.</a:t>
                      </a:r>
                    </a:p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ru-RU" dirty="0"/>
                        <a:t> 000 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453732"/>
                  </a:ext>
                </a:extLst>
              </a:tr>
              <a:tr h="1300190">
                <a:tc>
                  <a:txBody>
                    <a:bodyPr/>
                    <a:lstStyle/>
                    <a:p>
                      <a:r>
                        <a:rPr lang="ru-RU" b="1" dirty="0"/>
                        <a:t>Итого экономия / дополнительная выгода</a:t>
                      </a:r>
                    </a:p>
                    <a:p>
                      <a:endParaRPr lang="ru-RU" b="1" dirty="0"/>
                    </a:p>
                    <a:p>
                      <a:r>
                        <a:rPr lang="ru-RU" b="1" dirty="0"/>
                        <a:t>Окупаемость                  </a:t>
                      </a:r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≈ 115 000 ₽/</a:t>
                      </a:r>
                      <a:r>
                        <a:rPr lang="ru-RU" b="1" dirty="0" err="1"/>
                        <a:t>мес</a:t>
                      </a:r>
                      <a:endParaRPr lang="ru-RU" b="1" dirty="0"/>
                    </a:p>
                    <a:p>
                      <a:endParaRPr lang="ru-RU" b="1" dirty="0"/>
                    </a:p>
                    <a:p>
                      <a:endParaRPr lang="ru-RU" b="1" dirty="0"/>
                    </a:p>
                    <a:p>
                      <a:r>
                        <a:rPr lang="ru-RU" b="1" dirty="0"/>
                        <a:t>2 месяца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627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860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04A32-C5F4-4E54-9D55-45C821C1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VKNewsPump</a:t>
            </a:r>
            <a:r>
              <a:rPr lang="en-US" b="1" dirty="0"/>
              <a:t>: Feed </a:t>
            </a:r>
            <a:r>
              <a:rPr lang="en-US" b="1" dirty="0" err="1"/>
              <a:t>AutoPoster</a:t>
            </a:r>
            <a:br>
              <a:rPr lang="ru-RU" b="1" dirty="0"/>
            </a:br>
            <a:r>
              <a:rPr lang="ru-RU" dirty="0"/>
              <a:t>Потери, риски, упущенные возможности.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60724-4101-46A1-9EE2-E360559A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Продолжительные затраты времени на рутинные операции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Снижение качества и регулярности постов → отток подписчиков</a:t>
            </a:r>
          </a:p>
          <a:p>
            <a:r>
              <a:rPr lang="ru-RU" dirty="0"/>
              <a:t>Упущенные возможности: контент выходит позже конкурентов, охваты падают</a:t>
            </a:r>
          </a:p>
          <a:p>
            <a:r>
              <a:rPr lang="ru-RU" dirty="0"/>
              <a:t>Высокая текучка SMM-специалистов из-за выгорания</a:t>
            </a:r>
          </a:p>
          <a:p>
            <a:r>
              <a:rPr lang="ru-RU" dirty="0"/>
              <a:t>Невозможность масштабировать количество ведомых </a:t>
            </a:r>
            <a:r>
              <a:rPr lang="ru-RU" dirty="0" err="1"/>
              <a:t>пабликов</a:t>
            </a:r>
            <a:r>
              <a:rPr lang="ru-RU" dirty="0"/>
              <a:t> без найма новых сотрудников</a:t>
            </a:r>
          </a:p>
          <a:p>
            <a:r>
              <a:rPr lang="ru-RU" dirty="0"/>
              <a:t>Потеря потенциальной выручки от монетизации (реклама, </a:t>
            </a:r>
            <a:r>
              <a:rPr lang="ru-RU" dirty="0" err="1"/>
              <a:t>партнёрки</a:t>
            </a:r>
            <a:r>
              <a:rPr lang="ru-RU" dirty="0"/>
              <a:t>) из-за нестабильного контента</a:t>
            </a:r>
          </a:p>
          <a:p>
            <a:r>
              <a:rPr lang="ru-RU" b="1" dirty="0"/>
              <a:t>Упущенная возможность для разработчика:</a:t>
            </a:r>
            <a:endParaRPr lang="ru-RU" dirty="0"/>
          </a:p>
          <a:p>
            <a:r>
              <a:rPr lang="ru-RU" dirty="0"/>
              <a:t>Рынок </a:t>
            </a:r>
            <a:r>
              <a:rPr lang="ru-RU" dirty="0" err="1"/>
              <a:t>автопостинга</a:t>
            </a:r>
            <a:r>
              <a:rPr lang="ru-RU" dirty="0"/>
              <a:t> в VK растёт на 15–20% в год. Без решения доля будет захвачена конкурентами.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5352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791128-6473-4C71-B059-63E9ED5D2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4" y="279680"/>
            <a:ext cx="8731624" cy="706437"/>
          </a:xfrm>
        </p:spPr>
        <p:txBody>
          <a:bodyPr>
            <a:normAutofit fontScale="90000"/>
          </a:bodyPr>
          <a:lstStyle/>
          <a:p>
            <a:r>
              <a:rPr lang="en-US" sz="4900" b="1" dirty="0" err="1"/>
              <a:t>VKNewsPump</a:t>
            </a:r>
            <a:r>
              <a:rPr lang="en-US" b="1" dirty="0"/>
              <a:t>: </a:t>
            </a:r>
            <a:r>
              <a:rPr lang="en-US" sz="4900" b="1" dirty="0"/>
              <a:t>Feed </a:t>
            </a:r>
            <a:r>
              <a:rPr lang="en-US" sz="4900" b="1" dirty="0" err="1"/>
              <a:t>AutoPoster</a:t>
            </a:r>
            <a:endParaRPr lang="ru-RU" sz="4900" dirty="0"/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8FFD56A-C521-46E4-BA83-1267BAC1EE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8494" y="2911756"/>
            <a:ext cx="9144000" cy="1655762"/>
          </a:xfrm>
        </p:spPr>
        <p:txBody>
          <a:bodyPr>
            <a:normAutofit/>
          </a:bodyPr>
          <a:lstStyle/>
          <a:p>
            <a:r>
              <a:rPr lang="ru-RU" sz="4800" dirty="0"/>
              <a:t>Спасибо за внимание !</a:t>
            </a:r>
          </a:p>
        </p:txBody>
      </p:sp>
    </p:spTree>
    <p:extLst>
      <p:ext uri="{BB962C8B-B14F-4D97-AF65-F5344CB8AC3E}">
        <p14:creationId xmlns:p14="http://schemas.microsoft.com/office/powerpoint/2010/main" val="4596103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621</Words>
  <Application>Microsoft Office PowerPoint</Application>
  <PresentationFormat>Широкоэкранный</PresentationFormat>
  <Paragraphs>74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VKNewsPump: Feed AutoPoster </vt:lpstr>
      <vt:lpstr>VKNewsPump: Feed AutoPoster  Какую проблему решает VKNewsPump?</vt:lpstr>
      <vt:lpstr>VKNewsPump: Feed AutoPoster</vt:lpstr>
      <vt:lpstr>VKNewsPump: Feed AutoPoster Затраты компаний</vt:lpstr>
      <vt:lpstr>VKNewsPump: Feed AutoPoster Схема</vt:lpstr>
      <vt:lpstr>VKNewsPump: Feed AutoPoster Схема (human-in-loop)</vt:lpstr>
      <vt:lpstr>VKNewsPump: Feed AutoPoster Экономика</vt:lpstr>
      <vt:lpstr>VKNewsPump: Feed AutoPoster Эффект в деньгах (для одного клиента / агентства) </vt:lpstr>
      <vt:lpstr>VKNewsPump: Feed AutoPoster Потери, риски, упущенные возможности.</vt:lpstr>
      <vt:lpstr>VKNewsPump: Feed AutoPoster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VKNewsPump: Feed AutoPoster </dc:title>
  <dc:creator>Mike</dc:creator>
  <cp:lastModifiedBy>Mike</cp:lastModifiedBy>
  <cp:revision>3</cp:revision>
  <dcterms:created xsi:type="dcterms:W3CDTF">2026-03-20T14:04:02Z</dcterms:created>
  <dcterms:modified xsi:type="dcterms:W3CDTF">2026-03-22T14:35:12Z</dcterms:modified>
</cp:coreProperties>
</file>